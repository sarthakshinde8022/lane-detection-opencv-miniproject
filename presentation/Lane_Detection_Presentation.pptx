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00000"/>
                </a:solidFill>
                <a:latin typeface="Arial"/>
              </a:rPr>
              <a:t>Video jitter (px/frame, lower = steadier)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Raw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WhiteRight</c:v>
                  </c:pt>
                  <c:pt idx="1">
                    <c:v>YellowLeft</c:v>
                  </c:pt>
                  <c:pt idx="2">
                    <c:v>Challenge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4.34</c:v>
                </c:pt>
                <c:pt idx="1">
                  <c:v>5.29</c:v>
                </c:pt>
                <c:pt idx="2">
                  <c:v>27.67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Smoothed</c:v>
                </c:pt>
              </c:strCache>
            </c:strRef>
          </c:tx>
          <c:spPr>
            <a:solidFill>
              <a:srgbClr val="2E8B57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WhiteRight</c:v>
                  </c:pt>
                  <c:pt idx="1">
                    <c:v>YellowLeft</c:v>
                  </c:pt>
                  <c:pt idx="2">
                    <c:v>Challenge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0.9</c:v>
                </c:pt>
                <c:pt idx="1">
                  <c:v>0.98</c:v>
                </c:pt>
                <c:pt idx="2">
                  <c:v>6.6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9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9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9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9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28016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Lane Detection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1031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DE6F0"/>
                </a:solidFill>
              </a:rPr>
              <a:t>using Classical Computer Vision (OpenCV)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0175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0A100"/>
                </a:solidFill>
              </a:rPr>
              <a:t>AI Mini Project – Provisional / Draft Review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4747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[Student 1]  •  [Student 2]  •  [Student 3]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1. Project Introduction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49377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Lane detection finds the left and right lane boundaries from a front-facing camera.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Core to lane-departure warning, lane keeping and self-driving cars.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Hard because of shadows, worn paint, curves, and white vs yellow markings.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Our approach: a fast OpenCV pipeline as a baseline, then labelled evaluation and a deep learning comparison.</a:t>
            </a:r>
            <a:endParaRPr lang="en-US" sz="1700" dirty="0"/>
          </a:p>
        </p:txBody>
      </p:sp>
      <p:pic>
        <p:nvPicPr>
          <p:cNvPr id="4" name="Image 0" descr="results/out_solidYellowCurv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280160"/>
            <a:ext cx="3108960" cy="1746504"/>
          </a:xfrm>
          <a:prstGeom prst="rect">
            <a:avLst/>
          </a:prstGeom>
        </p:spPr>
      </p:pic>
      <p:pic>
        <p:nvPicPr>
          <p:cNvPr id="5" name="Image 1" descr="results/out_whiteCarLaneSwitch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3154680"/>
            <a:ext cx="3108960" cy="174650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9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2. Problem &amp; Objectives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Problem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Detect lane lines reliably and stably in road video, in real time, across varied lighting and road conditions.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75488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Objectives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1508760"/>
            <a:ext cx="3931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Build the OpenCV lane pipeline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Analyse the dataset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Stabilise video output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Report measurable results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Next: TuSimple + deep learning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9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3. Dataset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40233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Working set: Udacity CarND Lane Lines (GitHub)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6 images + 3 videos, 1,153 video frames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960×540 and 1280×720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White/yellow, solid/dashed, curves, lane change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No ground-truth labels in this set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Planned: TuSimple (1280×720, labelled)</a:t>
            </a:r>
            <a:endParaRPr lang="en-US" sz="1600" dirty="0"/>
          </a:p>
        </p:txBody>
      </p:sp>
      <p:pic>
        <p:nvPicPr>
          <p:cNvPr id="4" name="Image 0" descr="results/dataset_analy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0" y="1371600"/>
            <a:ext cx="4206240" cy="147218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663440" y="301752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The challenge video is darkest and highest-contrast (tree shadows) – our hardest case.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9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3b. Dataset Details &amp; Observations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612648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731520"/>
                <a:gridCol w="1005840"/>
                <a:gridCol w="731520"/>
                <a:gridCol w="914400"/>
                <a:gridCol w="82296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Sample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Size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Frames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Brightness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Contrast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C8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solidWhiteCurve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image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960×540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131.2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41.7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solidWhiteRight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image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960×540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130.1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43.8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solidYellowCurve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image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960×540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129.1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34.0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solidYellowLeft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image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960×540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130.4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35.0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whiteCarLaneSwitch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image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960×540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135.5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31.9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solidWhiteRight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video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960×540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221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124.7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44.4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solidYellowLeft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video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960×540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681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128.3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34.5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challenge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video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1280×720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251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112.2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47.7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38404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Daylight highway scenes; white and yellow, solid and dashed markings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Challenge video: darkest, highest contrast (tree shadows, road colour change)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Not covered: night, rain, occlusion, heavy traffic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9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4. AI Tool Used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OpenCV (Python): blur, Canny, Hough transform – classical computer vision, not a learned model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NumPy / Pandas / Matplotlib: computation and results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Jupyter: reproducible notebook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Claude (AI assistant): code help, debugging, report drafting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Planned learning component: U-Net segmentation, compared to the baseline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9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5. Method / Work Done</a:t>
            </a:r>
            <a:endParaRPr lang="en-US" sz="2600" dirty="0"/>
          </a:p>
        </p:txBody>
      </p:sp>
      <p:pic>
        <p:nvPicPr>
          <p:cNvPr id="3" name="Image 0" descr="results/pipeline_stag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05840"/>
            <a:ext cx="5852160" cy="272491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0" y="1097280"/>
            <a:ext cx="24688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Gray + Gaussian blur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Canny edges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ROI mask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Hough segments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Slope split, weighted average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Overlay + temporal smoothing (video)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9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5b. Pipeline Steps &amp; Parameters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920240"/>
                <a:gridCol w="2651760"/>
                <a:gridCol w="219456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Step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OpenCV function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Setting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Purpose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C8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Grayscale + blur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cvtColor, GaussianBlur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5×5 kernel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Remove colour, suppress noise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Edge detection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Canny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thresholds 50 / 150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Find strong intensity edges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Region of interest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fillPoly, bitwise_and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trapezoid, 60%–100% of height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Ignore sky and roadside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Line detection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HoughLinesP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ρ=2, θ=1°, thresh 20, minLen 20, gap 100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Find line segments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Left/right fit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slope sign + weighted mean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|slope| ≥ 0.45, weight = length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One stable line per side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Video smoothing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exponential average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α = 0.2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Reduce flicker between frames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Why classical first: fast, explainable, no training data needed – a baseline to beat with deep learning.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9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6. Results / Output</a:t>
            </a:r>
            <a:endParaRPr lang="en-US" sz="2600" dirty="0"/>
          </a:p>
        </p:txBody>
      </p:sp>
      <p:pic>
        <p:nvPicPr>
          <p:cNvPr id="3" name="Image 0" descr="results/all_image_outpu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05840"/>
            <a:ext cx="5120640" cy="204825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760720" y="10058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6/6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760720" y="1691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images: both lanes found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760720" y="21945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~80 FPS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5760720" y="28803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on 960×540 video (36 FPS at 720p)</a:t>
            </a:r>
            <a:endParaRPr lang="en-US" sz="14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65760" y="3154680"/>
          <a:ext cx="512064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 txBox="1"/>
          <p:nvPr/>
        </p:nvSpPr>
        <p:spPr>
          <a:xfrm>
            <a:off x="5760720" y="34747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Smoothing cuts jitter ~4–5× at no speed cost.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9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6b. Video Results in Detail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097280"/>
                <a:gridCol w="914400"/>
                <a:gridCol w="1645920"/>
                <a:gridCol w="1737360"/>
                <a:gridCol w="100584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Video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Mode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Frames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Both lanes found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Jitter (px/frame)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FPS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C8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solidWhiteRight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raw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221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100.0%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4.34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82.5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solidWhiteRight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smoothed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221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100.0%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0.90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83.7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solidYellowLeft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raw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681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100.0%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5.29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84.2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solidYellowLeft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smoothed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681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100.0%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0.98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81.0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challenge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raw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251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98.8%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27.67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36.5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challenge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smoothed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251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98.8%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6.60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36.9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33832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Jitter = mean frame-to-frame change of lane position at image bottom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Smoothing reduces jitter ~4–5× with no speed loss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Real-time capable on CPU (80+ FPS at 960×540)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9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6c. Limitations &amp; Observations</a:t>
            </a:r>
            <a:endParaRPr lang="en-US" sz="2600" dirty="0"/>
          </a:p>
        </p:txBody>
      </p:sp>
      <p:pic>
        <p:nvPicPr>
          <p:cNvPr id="3" name="Image 0" descr="results/frame_challenge_9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023360" cy="226771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663440" y="1097280"/>
            <a:ext cx="41148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Failure: left line pulled onto shadowed road edge instead of yellow marking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"Both lanes found" does not mean correct – no labels in this set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Straight-line model only approximates curves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Fixed ROI assumes a centred camera and flat road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No night or rain data tested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34290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Challenge frame 90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9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7. Current Progress</a:t>
            </a:r>
            <a:endParaRPr lang="en-US" sz="2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43000"/>
          <a:ext cx="475488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137160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Classical pipeline (images)</a:t>
                      </a:r>
                      <a:endParaRPr lang="en-US" sz="15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E8B57"/>
                          </a:solidFill>
                        </a:rPr>
                        <a:t>Done</a:t>
                      </a:r>
                      <a:endParaRPr lang="en-US" sz="15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Video + temporal smoothing</a:t>
                      </a:r>
                      <a:endParaRPr lang="en-US" sz="15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E8B57"/>
                          </a:solidFill>
                        </a:rPr>
                        <a:t>Done</a:t>
                      </a:r>
                      <a:endParaRPr lang="en-US" sz="15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Dataset analysis</a:t>
                      </a:r>
                      <a:endParaRPr lang="en-US" sz="15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E8B57"/>
                          </a:solidFill>
                        </a:rPr>
                        <a:t>Done</a:t>
                      </a:r>
                      <a:endParaRPr lang="en-US" sz="15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Notebook, code, README</a:t>
                      </a:r>
                      <a:endParaRPr lang="en-US" sz="15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E8B57"/>
                          </a:solidFill>
                        </a:rPr>
                        <a:t>Done</a:t>
                      </a:r>
                      <a:endParaRPr lang="en-US" sz="15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TuSimple + labelled accuracy</a:t>
                      </a:r>
                      <a:endParaRPr lang="en-US" sz="15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C0392B"/>
                          </a:solidFill>
                        </a:rPr>
                        <a:t>To do</a:t>
                      </a:r>
                      <a:endParaRPr lang="en-US" sz="15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Curved lanes / shadow robustness</a:t>
                      </a:r>
                      <a:endParaRPr lang="en-US" sz="15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C0392B"/>
                          </a:solidFill>
                        </a:rPr>
                        <a:t>To do</a:t>
                      </a:r>
                      <a:endParaRPr lang="en-US" sz="15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Deep learning comparison</a:t>
                      </a:r>
                      <a:endParaRPr lang="en-US" sz="15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C0392B"/>
                          </a:solidFill>
                        </a:rPr>
                        <a:t>To do</a:t>
                      </a:r>
                      <a:endParaRPr lang="en-US" sz="15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4" name="Image 0" descr="results/frame_challenge_9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1188720"/>
            <a:ext cx="3200400" cy="1801368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577840" y="310896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Known failure: on challenge.mp4 the left line is pulled onto the shadowed road edge. "Both lanes found" ≠ correct; labels are needed to measure true accuracy.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9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8. Future Work (Roadmap)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</a:rPr>
              <a:t>Move to TuSimple; report TuSimple accuracy, false positives / negatives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</a:rPr>
              <a:t>Perspective (bird’s-eye) transform + polynomial fitting for curves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</a:rPr>
              <a:t>Shadow robustness: colour-space thresholds (HLS), CLAHE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</a:rPr>
              <a:t>Train a U-Net lane segmentation model; compare against baseline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</a:rPr>
              <a:t>Final report, demo video and GitHub repository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9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9. Evaluation Plan &amp; Team Roles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Planned evaluation (TuSimple)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63040"/>
            <a:ext cx="40233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Accuracy: share of predicted lane points within a pixel threshold of labels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False positives / false negatives per frame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Compare classical baseline vs U-Net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Test on shadow and curve subsets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754880" y="10515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Team roles</a:t>
            </a:r>
            <a:endParaRPr lang="en-US" sz="1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40233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56032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Member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Focus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C8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[Student 1]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Dataset loading, analysis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[Student 2]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Image pipeline, tuning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[Student 3]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Evaluation, report, slides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9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aneDetect">
  <a:themeElements>
    <a:clrScheme name="LaneDetect">
      <a:dk1>
        <a:srgbClr val="1B2430"/>
      </a:dk1>
      <a:lt1>
        <a:srgbClr val="FFFFFF"/>
      </a:lt1>
      <a:dk2>
        <a:srgbClr val="1F3A5F"/>
      </a:dk2>
      <a:lt2>
        <a:srgbClr val="EEF2F7"/>
      </a:lt2>
      <a:accent1>
        <a:srgbClr val="1F3A5F"/>
      </a:accent1>
      <a:accent2>
        <a:srgbClr val="2E8B57"/>
      </a:accent2>
      <a:accent3>
        <a:srgbClr val="E0A100"/>
      </a:accent3>
      <a:accent4>
        <a:srgbClr val="C0392B"/>
      </a:accent4>
      <a:accent5>
        <a:srgbClr val="2E5C8A"/>
      </a:accent5>
      <a:accent6>
        <a:srgbClr val="7F8C9A"/>
      </a:accent6>
      <a:hlink>
        <a:srgbClr val="2E5C8A"/>
      </a:hlink>
      <a:folHlink>
        <a:srgbClr val="7F8C9A"/>
      </a:folHlink>
    </a:clrScheme>
    <a:fontScheme name="LaneDetect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2026-10-02T07:26:51Z</dcterms:created>
  <dcterms:modified xsi:type="dcterms:W3CDTF">2026-10-02T07:26:51Z</dcterms:modified>
</cp:coreProperties>
</file>